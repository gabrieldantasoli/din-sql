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a analogia do tradutor: a pessoa fala em português e o computador responde em SQL. Enfatize dar acesso aos dados para quem não programa.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vez de montar tudo de uma vez, o DIN-SQL segue 4 passos, como um manual de móvel. Plante a analogia aqui porque ela volta no achado central.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Funcionou muito bem; o detalhe é COMO. Marque os dois problemas: dependência do GPT-4 (caro e fechado) e ausência de estatística. Isso planta nossa lacuna.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nascem as quatro perguntas de pesquisa (H1 a H4). Leia rápido; cada uma vira um slide de resultado.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Uma RTX 4090, cinco modelos de cinco empresas (Alibaba, DeepSeek, 01.AI, IBM, Microsoft) e estatística. Subset estratificado por dificuldade, seed fixa para reprodutibilidade.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 de maior impacto prático: o modelo local praticamente empatou com o GPT-4. O intervalo de confiança contém o valor do paper, então a diferença não é relevante. De graça.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Há diferença global pelo Friedman, mas no detalhe vários empatam. Só Qwen contra Phi é significativo no post-hoc. O modelo menor (3.8B) cai feio nas queries difíceis.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Achado central, de peso. Voltando ao móvel: sobraram peças e o móvel ficou até mais firme. Só a auto-correção contribui; schema linking não muda nada e simplificar o prompt melhora. Esse é o slide-chave da apresentação.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Aumentar a criatividade não compensou: a média não sobe e o resultado fica instável, com uma corrida caindo a 0,645. Para reprodução confiável, use greedy.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Humanize a pesquisa: nem tudo foi tranquilo. O SQLCoder, especializado em SQL, não rodou por não ter chat template — o método depende de instruction-following, habilidade emergente. Cite OOM, parsing de markdown e GPU compartilhada.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Feche com a mensagem-chave: reproduzimos o GPT-4 sem custo e mostramos que dá pra simplificar o método, focando na auto-correção. Aponte os próximos passos.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final com o repositório. Convide a explorar o código e os resultados, e abra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109728"/>
          </a:xfrm>
          <a:prstGeom prst="rect">
            <a:avLst/>
          </a:prstGeom>
          <a:solidFill>
            <a:srgbClr val="11A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DIN-SQL de graça: trocando o GPT-4 por LLMs abertos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CFDBEC"/>
                </a:solidFill>
                <a:latin typeface="Calibri"/>
              </a:rPr>
              <a:t>Reproduzindo um trabalho de ponta em text-to-SQL com custo US$ 0 e rigor estatístico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FB0C6"/>
                </a:solidFill>
                <a:latin typeface="Calibri"/>
              </a:rPr>
              <a:t>Gabriel Dantas de Oliveira | Orientador: Claudio de Souza Baptista | COPIN/UFCG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problema 🗣️➡️🗄️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Text-to-SQL = tradutor de perguntas para o banco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❓ Você pergunta em português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🔁 A máquina traduz para SQL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😵 SQL é difícil para quem não é técnico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🎯 Meta: democratizar o acesso aos dados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1/12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 ideia do DIN-SQL 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Dividir para conquistar, igual manual de montar móvel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•  1️⃣ Schema linking — achar as peças certas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•  2️⃣ Classificar/decompor — separar por dificuldade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•  3️⃣ Gerar o SQL — montar a consulta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•  4️⃣ Auto-correção — conferir e ajustar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DIN-SQL brilhou... mas tem pegadinha 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SOTA no Spider: 85,3% test / 74,2% dev (EX)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🏆 Pourreza &amp; Rafiei, NeurIPS 2023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📈 Estado da arte no benchmark Spider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💳 Mas dependia do GPT-4: caro e fechado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📊 E sem nenhum teste estatístico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Nossa pergunta 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Dá pra reproduzir de graça e com rigor?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💡 LLM aberto e local iguala o GPT-4?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🧱 Todo o scaffolding do DIN-SQL é necessário?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🆚 Qual backbone aberto se sai melhor?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📐 E com estatística de verdade por trás?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 que fizemos 🛠️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1 GPU, 5 modelos, US$ 0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🖥️ vLLM em 1 GPU RTX 4090 — custo US$ 0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🎯 200 queries do Spider dev (seed=42)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🧩 easy 70 / medium 70 / hard 35 / extra 25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📏 Métricas: EX e EM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🤝 5 backbones de 5 provedores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Resultado 1 (H1) 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85216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Empate técnico: Qwen local = GPT-4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🥇 Qwen2.5-Coder-7B local: EX = 0,745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🤖 GPT-4 do paper: EX = 0,742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📊 IC95% [0,680; 0,805] contém 0,742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💸 Mesmo desempenho, custo zero</a:t>
            </a:r>
          </a:p>
        </p:txBody>
      </p:sp>
      <p:pic>
        <p:nvPicPr>
          <p:cNvPr id="7" name="Picture 6" descr="fig7_qwen_vs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815" y="1554480"/>
            <a:ext cx="5486400" cy="30723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Resultado 2 (H3) 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85216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Três empatam, um fica pra trás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📉 Friedman p = 0,006 → há diferença global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🤝 Qwen / DeepSeek / Yi empatam (~0,73–0,75)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🐣 Phi-3.5 (3.8B) fica atrás: 0,630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💥 Phi colapsa no hard: 0,40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🔎 Post-hoc: só Qwen vs Phi é significativo</a:t>
            </a:r>
          </a:p>
        </p:txBody>
      </p:sp>
      <p:pic>
        <p:nvPicPr>
          <p:cNvPr id="7" name="Picture 6" descr="fig1_backbones_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815" y="1554480"/>
            <a:ext cx="548640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Resultado 3 (H2) 🧱 ACHADO CENTRAL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85216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Parte do andaime do DIN-SQL é redundante!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🛟 Só a auto-correção ajuda: 0,745 → 0,665 sem ela (p&lt;0,001)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⚖️ Schema linking é neutro (p = 0,556)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✂️ Prompt simples até MELHORA: 0,790 (p = 0,049)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🧩 Em coders modernos, sobra scaffolding</a:t>
            </a:r>
          </a:p>
        </p:txBody>
      </p:sp>
      <p:pic>
        <p:nvPicPr>
          <p:cNvPr id="7" name="Picture 6" descr="fig4_ablation_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815" y="1554480"/>
            <a:ext cx="548640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Resultado 4 (H4) 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585216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Greedy é a aposta segura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🧊 Greedy (temp = 0): estável e confiável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🔥 Temp 0,8: não melhora a média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📈 E aumenta a variância (uma corrida caiu a 0,645)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✅ Recomendação: ficar no greedy</a:t>
            </a:r>
          </a:p>
        </p:txBody>
      </p:sp>
      <p:pic>
        <p:nvPicPr>
          <p:cNvPr id="7" name="Picture 6" descr="fig6_robustez_tempera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3815" y="1554480"/>
            <a:ext cx="5486400" cy="34485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Desafios 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Um modelo simplesmente não rodou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🚫 SQLCoder-7B-2 não rodou: é completion, sem chat template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💡 Reforça: o método exige instruction-following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🧠 OOM na GPU → ajuste de memória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🧹 Parsing de saídas em markdown (```sql)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Conclusão e o que vem 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Reproduzir de graça — e ainda enxugar o 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✅ LLM local iguala GPT-4 a custo zero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✂️ Scaffolding pode encolher (foco na auto-correção)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🔭 Futuro: dev completo (1034), BIRD, #few-shot, idiomas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🙏 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Repositório público 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11247120" cy="914400"/>
          </a:xfrm>
          <a:prstGeom prst="roundRect">
            <a:avLst/>
          </a:prstGeom>
          <a:solidFill>
            <a:srgbClr val="EFF4FB"/>
          </a:solidFill>
          <a:ln w="19050">
            <a:solidFill>
              <a:srgbClr val="11A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900" b="1">
                <a:solidFill>
                  <a:srgbClr val="2D6CDF"/>
                </a:solidFill>
              </a:rPr>
              <a:t>github.com/gabrieldantasoli/DIN-SQL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📂 Código, configs e resultados abertos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🔁 Reprodutível: seed=42, scripts de avaliação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📊 Figuras e análise estatística incluídas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A2233"/>
                </a:solidFill>
                <a:latin typeface="Calibri"/>
              </a:rPr>
              <a:t>🙏 Obrigado! Perguntas?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550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B6677"/>
                </a:solidFill>
                <a:latin typeface="Calibri"/>
              </a:rPr>
              <a:t>DIN-SQL · reprodução de baixo custo · COPIN/UFCG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355080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5B6677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